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8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224" y="176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9/10/26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  <p:txBody>
          <a:bodyPr/>
          <a:lstStyle/>
          <a:p>
            <a:endParaRPr lang="en-IN"/>
          </a:p>
        </p:txBody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9/10/26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9/10/26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9/10/26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9/10/26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9/10/26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9/10/26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9/10/26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7456765" y="2466774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389580" y="166425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93862" y="848671"/>
            <a:ext cx="7571944" cy="46866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 SIH26036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 Online verification system of weighing and measuring instruments. 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Theme- Miscellaneous 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PS Category- Software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Name - KHUSHAL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D93CA92-C385-1E70-E911-B177114E7A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1755" y="0"/>
            <a:ext cx="2211404" cy="100039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2212258" y="0"/>
            <a:ext cx="7433187" cy="807334"/>
          </a:xfrm>
        </p:spPr>
        <p:txBody>
          <a:bodyPr/>
          <a:lstStyle/>
          <a:p>
            <a:pPr eaLnBrk="1" hangingPunct="1"/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MAANAK : Online system for measuring instruments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501445" y="1351318"/>
            <a:ext cx="5161936" cy="4832092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800" dirty="0">
                <a:latin typeface="Arial" pitchFamily="34" charset="0"/>
                <a:cs typeface="Arial" pitchFamily="34" charset="0"/>
              </a:rPr>
              <a:t>	Proposed Solution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itchFamily="34" charset="0"/>
                <a:cs typeface="Arial" pitchFamily="34" charset="0"/>
              </a:rPr>
              <a:t>Single national platform for state wise access for legal metrology departments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itchFamily="34" charset="0"/>
                <a:cs typeface="Arial" pitchFamily="34" charset="0"/>
              </a:rPr>
              <a:t>Enabling online registration, application, fee payment, scheduling, verification and certification.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itchFamily="34" charset="0"/>
                <a:cs typeface="Arial" pitchFamily="34" charset="0"/>
              </a:rPr>
              <a:t>Agentic AI for doc verification, fraud detection and compliance enquiries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itchFamily="34" charset="0"/>
                <a:cs typeface="Arial" pitchFamily="34" charset="0"/>
              </a:rPr>
              <a:t>Generate digitally signed certificate with QR codes for instant verification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itchFamily="34" charset="0"/>
                <a:cs typeface="Arial" pitchFamily="34" charset="0"/>
              </a:rPr>
              <a:t>Provision of dashboards, alerts, search in the app.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548188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KHUSHAL</a:t>
            </a:r>
            <a:endParaRPr lang="en-IN" dirty="0"/>
          </a:p>
        </p:txBody>
      </p:sp>
      <p:sp>
        <p:nvSpPr>
          <p:cNvPr id="3" name="TextBox 8">
            <a:extLst>
              <a:ext uri="{FF2B5EF4-FFF2-40B4-BE49-F238E27FC236}">
                <a16:creationId xmlns:a16="http://schemas.microsoft.com/office/drawing/2014/main" id="{1D8C127E-FB6C-DB6E-B4F6-72337E03302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20696" y="1351317"/>
            <a:ext cx="6092138" cy="2985433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800" dirty="0">
                <a:latin typeface="Arial" pitchFamily="34" charset="0"/>
                <a:cs typeface="Arial" pitchFamily="34" charset="0"/>
              </a:rPr>
              <a:t>	Addressal of Problem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itchFamily="34" charset="0"/>
                <a:cs typeface="Arial" pitchFamily="34" charset="0"/>
              </a:rPr>
              <a:t>Replaces manual and fragmented process to one easier app solution.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itchFamily="34" charset="0"/>
                <a:cs typeface="Arial" pitchFamily="34" charset="0"/>
              </a:rPr>
              <a:t>Reduces verification delays through automated scheduling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itchFamily="34" charset="0"/>
                <a:cs typeface="Arial" pitchFamily="34" charset="0"/>
              </a:rPr>
              <a:t>Increases accuracy through the use of AI assisted doc verification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itchFamily="34" charset="0"/>
                <a:cs typeface="Arial" pitchFamily="34" charset="0"/>
              </a:rPr>
              <a:t>Helps in fraud prevention and anomaly detection</a:t>
            </a:r>
          </a:p>
        </p:txBody>
      </p:sp>
      <p:sp>
        <p:nvSpPr>
          <p:cNvPr id="5" name="TextBox 8">
            <a:extLst>
              <a:ext uri="{FF2B5EF4-FFF2-40B4-BE49-F238E27FC236}">
                <a16:creationId xmlns:a16="http://schemas.microsoft.com/office/drawing/2014/main" id="{EE0C4369-FD5E-5896-2079-231A15C3AD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820696" y="4437983"/>
            <a:ext cx="6092138" cy="1754326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800" dirty="0">
                <a:latin typeface="Arial" pitchFamily="34" charset="0"/>
                <a:cs typeface="Arial" pitchFamily="34" charset="0"/>
              </a:rPr>
              <a:t>	Innovation and Uniqueness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itchFamily="34" charset="0"/>
                <a:cs typeface="Arial" pitchFamily="34" charset="0"/>
              </a:rPr>
              <a:t>AI powered multi-agent system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itchFamily="34" charset="0"/>
                <a:cs typeface="Arial" pitchFamily="34" charset="0"/>
              </a:rPr>
              <a:t>Multi-lingual voice-chat assistance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itchFamily="34" charset="0"/>
                <a:cs typeface="Arial" pitchFamily="34" charset="0"/>
              </a:rPr>
              <a:t>AI instrument recognition and tamper seal detection using photographs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D01D9FB-7E5B-0F36-F7F2-23BFE684C4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1755" y="0"/>
            <a:ext cx="2211404" cy="10003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189391" y="171215"/>
            <a:ext cx="158751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KHUSHAL</a:t>
            </a:r>
            <a:endParaRPr lang="en-IN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A24BC0E-82EE-BF3C-CA6C-95A4592B10F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558117" y="1823551"/>
            <a:ext cx="5270089" cy="429211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pic>
      <p:sp>
        <p:nvSpPr>
          <p:cNvPr id="4" name="TextBox 8">
            <a:extLst>
              <a:ext uri="{FF2B5EF4-FFF2-40B4-BE49-F238E27FC236}">
                <a16:creationId xmlns:a16="http://schemas.microsoft.com/office/drawing/2014/main" id="{439F6AE8-AEB4-8BF0-652D-0F87B65265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64515" y="1226570"/>
            <a:ext cx="4129854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/>
            <a:r>
              <a:rPr lang="en-US" sz="2800" dirty="0">
                <a:latin typeface="Arial" pitchFamily="34" charset="0"/>
                <a:cs typeface="Arial" pitchFamily="34" charset="0"/>
              </a:rPr>
              <a:t>High Level Architecture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DF3809F-D24A-8CDB-CD0B-3050A37366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144" y="1488180"/>
            <a:ext cx="5715000" cy="2787300"/>
          </a:xfrm>
          <a:prstGeom prst="rect">
            <a:avLst/>
          </a:prstGeom>
        </p:spPr>
      </p:pic>
      <p:sp>
        <p:nvSpPr>
          <p:cNvPr id="15" name="TextBox 8">
            <a:extLst>
              <a:ext uri="{FF2B5EF4-FFF2-40B4-BE49-F238E27FC236}">
                <a16:creationId xmlns:a16="http://schemas.microsoft.com/office/drawing/2014/main" id="{68EE6E96-EF83-816A-0E1F-EBED37AEC1E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56699" y="918355"/>
            <a:ext cx="4129854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/>
            <a:r>
              <a:rPr lang="en-US" sz="2800" dirty="0">
                <a:latin typeface="Arial" pitchFamily="34" charset="0"/>
                <a:cs typeface="Arial" pitchFamily="34" charset="0"/>
              </a:rPr>
              <a:t>Technologies Used</a:t>
            </a:r>
          </a:p>
        </p:txBody>
      </p:sp>
      <p:sp>
        <p:nvSpPr>
          <p:cNvPr id="17" name="TextBox 8">
            <a:extLst>
              <a:ext uri="{FF2B5EF4-FFF2-40B4-BE49-F238E27FC236}">
                <a16:creationId xmlns:a16="http://schemas.microsoft.com/office/drawing/2014/main" id="{6037821F-A33D-D1A7-CD1F-29835E06AB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03185" y="4275480"/>
            <a:ext cx="4129854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algn="ctr"/>
            <a:r>
              <a:rPr lang="en-US" sz="2800" dirty="0">
                <a:latin typeface="Arial" pitchFamily="34" charset="0"/>
                <a:cs typeface="Arial" pitchFamily="34" charset="0"/>
              </a:rPr>
              <a:t>AI Agent Architecture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10067AA2-6CB3-E600-4255-35E997A98BAB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387144" y="4798700"/>
            <a:ext cx="5715000" cy="13169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280306C-180E-9E77-DD57-DF9EA97CC53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61755" y="0"/>
            <a:ext cx="2211404" cy="10003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131163"/>
            <a:ext cx="1518692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KHUSHAL</a:t>
            </a:r>
            <a:endParaRPr lang="en-IN" dirty="0"/>
          </a:p>
        </p:txBody>
      </p:sp>
      <p:sp>
        <p:nvSpPr>
          <p:cNvPr id="3" name="TextBox 8">
            <a:extLst>
              <a:ext uri="{FF2B5EF4-FFF2-40B4-BE49-F238E27FC236}">
                <a16:creationId xmlns:a16="http://schemas.microsoft.com/office/drawing/2014/main" id="{4F08E931-AA1C-3B2A-5A6D-49333FC919C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8755" y="1063448"/>
            <a:ext cx="5851531" cy="3123932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800" dirty="0">
                <a:latin typeface="Arial" pitchFamily="34" charset="0"/>
                <a:cs typeface="Arial" pitchFamily="34" charset="0"/>
              </a:rPr>
              <a:t>	FEASIBILITY </a:t>
            </a:r>
            <a:endParaRPr lang="en-US" sz="900" dirty="0">
              <a:latin typeface="Arial" pitchFamily="34" charset="0"/>
              <a:cs typeface="Arial" pitchFamily="34" charset="0"/>
            </a:endParaRPr>
          </a:p>
          <a:p>
            <a:pPr algn="ctr"/>
            <a:endParaRPr lang="en-US" sz="900" dirty="0">
              <a:latin typeface="Arial" pitchFamily="34" charset="0"/>
              <a:cs typeface="Arial" pitchFamily="34" charset="0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itchFamily="34" charset="0"/>
                <a:cs typeface="Arial" pitchFamily="34" charset="0"/>
              </a:rPr>
              <a:t>Scalable architecture supports 1,00,00 users and 99.9% uptime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itchFamily="34" charset="0"/>
                <a:cs typeface="Arial" pitchFamily="34" charset="0"/>
              </a:rPr>
              <a:t>Offline first mobile design practical in rural and low mobility areas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itchFamily="34" charset="0"/>
                <a:cs typeface="Arial" pitchFamily="34" charset="0"/>
              </a:rPr>
              <a:t>Government ready deployment through Meghraj/NIC backed cloud infrastructure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itchFamily="34" charset="0"/>
                <a:cs typeface="Arial" pitchFamily="34" charset="0"/>
              </a:rPr>
              <a:t>Existing integrations such Aadhar, DigiLocker, GST allow easier integration.</a:t>
            </a:r>
          </a:p>
        </p:txBody>
      </p:sp>
      <p:sp>
        <p:nvSpPr>
          <p:cNvPr id="5" name="TextBox 8">
            <a:extLst>
              <a:ext uri="{FF2B5EF4-FFF2-40B4-BE49-F238E27FC236}">
                <a16:creationId xmlns:a16="http://schemas.microsoft.com/office/drawing/2014/main" id="{1A3E150D-A494-D583-9595-19D55C7A25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50200" y="1095375"/>
            <a:ext cx="5683045" cy="5001369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800" dirty="0">
                <a:latin typeface="Arial" pitchFamily="34" charset="0"/>
                <a:cs typeface="Arial" pitchFamily="34" charset="0"/>
              </a:rPr>
              <a:t>	POTENTIAL CHALLENGES</a:t>
            </a:r>
            <a:r>
              <a:rPr lang="en-US" sz="900" dirty="0">
                <a:latin typeface="Arial" pitchFamily="34" charset="0"/>
                <a:cs typeface="Arial" pitchFamily="34" charset="0"/>
              </a:rPr>
              <a:t> </a:t>
            </a:r>
          </a:p>
          <a:p>
            <a:pPr algn="ctr"/>
            <a:endParaRPr lang="en-US" sz="1100" dirty="0">
              <a:latin typeface="Arial" pitchFamily="34" charset="0"/>
              <a:cs typeface="Arial" pitchFamily="34" charset="0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itchFamily="34" charset="0"/>
                <a:cs typeface="Arial" pitchFamily="34" charset="0"/>
              </a:rPr>
              <a:t>Integration complexity with state legacy systems and infrastructure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itchFamily="34" charset="0"/>
                <a:cs typeface="Arial" pitchFamily="34" charset="0"/>
              </a:rPr>
              <a:t>Poor connectivity relaying issues like data synchronization in rural areas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itchFamily="34" charset="0"/>
                <a:cs typeface="Arial" pitchFamily="34" charset="0"/>
              </a:rPr>
              <a:t>Data security risks due to integration with KYC’s like Aadhar like systems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itchFamily="34" charset="0"/>
                <a:cs typeface="Arial" pitchFamily="34" charset="0"/>
              </a:rPr>
              <a:t>Resistance to adoption due to widespread accustomed usage of manual systems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itchFamily="34" charset="0"/>
                <a:cs typeface="Arial" pitchFamily="34" charset="0"/>
              </a:rPr>
              <a:t>Legal and regulatory compliance issues with digital signatures and audit records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itchFamily="34" charset="0"/>
                <a:cs typeface="Arial" pitchFamily="34" charset="0"/>
              </a:rPr>
              <a:t>AI model drift could reduce accuracy as real-world data shifts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11" name="TextBox 8">
            <a:extLst>
              <a:ext uri="{FF2B5EF4-FFF2-40B4-BE49-F238E27FC236}">
                <a16:creationId xmlns:a16="http://schemas.microsoft.com/office/drawing/2014/main" id="{E9996086-E023-2928-9C9C-650A014FAE2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8755" y="4320713"/>
            <a:ext cx="5851531" cy="1892826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800" dirty="0">
                <a:latin typeface="Arial" pitchFamily="34" charset="0"/>
                <a:cs typeface="Arial" pitchFamily="34" charset="0"/>
              </a:rPr>
              <a:t>	SOLUTIONS</a:t>
            </a:r>
            <a:endParaRPr lang="en-US" sz="900" dirty="0">
              <a:latin typeface="Arial" pitchFamily="34" charset="0"/>
              <a:cs typeface="Arial" pitchFamily="34" charset="0"/>
            </a:endParaRPr>
          </a:p>
          <a:p>
            <a:pPr algn="ctr"/>
            <a:endParaRPr lang="en-US" sz="900" dirty="0">
              <a:latin typeface="Arial" pitchFamily="34" charset="0"/>
              <a:cs typeface="Arial" pitchFamily="34" charset="0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itchFamily="34" charset="0"/>
                <a:cs typeface="Arial" pitchFamily="34" charset="0"/>
              </a:rPr>
              <a:t>Phased rollout with MVP to state to nationwide deployment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itchFamily="34" charset="0"/>
                <a:cs typeface="Arial" pitchFamily="34" charset="0"/>
              </a:rPr>
              <a:t>Apply AI advisory for legal compliance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itchFamily="34" charset="0"/>
                <a:cs typeface="Arial" pitchFamily="34" charset="0"/>
              </a:rPr>
              <a:t>Use </a:t>
            </a:r>
            <a:r>
              <a:rPr lang="en-US" sz="2000" dirty="0" err="1">
                <a:latin typeface="Arial" pitchFamily="34" charset="0"/>
                <a:cs typeface="Arial" pitchFamily="34" charset="0"/>
              </a:rPr>
              <a:t>kafka</a:t>
            </a:r>
            <a:r>
              <a:rPr lang="en-US" sz="2000" dirty="0">
                <a:latin typeface="Arial" pitchFamily="34" charset="0"/>
                <a:cs typeface="Arial" pitchFamily="34" charset="0"/>
              </a:rPr>
              <a:t> decoupling for failure handling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549AC6F-F385-5BF0-B0F2-441ACEE122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1755" y="0"/>
            <a:ext cx="2211404" cy="1000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437928" y="88652"/>
            <a:ext cx="1607182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KHUSHAL</a:t>
            </a:r>
            <a:endParaRPr lang="en-IN" dirty="0"/>
          </a:p>
        </p:txBody>
      </p:sp>
      <p:sp>
        <p:nvSpPr>
          <p:cNvPr id="3" name="TextBox 8">
            <a:extLst>
              <a:ext uri="{FF2B5EF4-FFF2-40B4-BE49-F238E27FC236}">
                <a16:creationId xmlns:a16="http://schemas.microsoft.com/office/drawing/2014/main" id="{7246111F-A35C-8AE2-824D-B0E317256DC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8327" y="1001968"/>
            <a:ext cx="5453787" cy="5278368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800" dirty="0">
                <a:latin typeface="Arial" pitchFamily="34" charset="0"/>
                <a:cs typeface="Arial" pitchFamily="34" charset="0"/>
              </a:rPr>
              <a:t>	IMPACTS </a:t>
            </a:r>
            <a:endParaRPr lang="en-US" sz="900" dirty="0">
              <a:latin typeface="Arial" pitchFamily="34" charset="0"/>
              <a:cs typeface="Arial" pitchFamily="34" charset="0"/>
            </a:endParaRPr>
          </a:p>
          <a:p>
            <a:pPr algn="ctr"/>
            <a:endParaRPr lang="en-US" sz="900" dirty="0">
              <a:latin typeface="Arial" pitchFamily="34" charset="0"/>
              <a:cs typeface="Arial" pitchFamily="34" charset="0"/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itchFamily="34" charset="0"/>
                <a:cs typeface="Arial" pitchFamily="34" charset="0"/>
              </a:rPr>
              <a:t>Consumers : instant verification, easier handling and remote access with app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itchFamily="34" charset="0"/>
                <a:cs typeface="Arial" pitchFamily="34" charset="0"/>
              </a:rPr>
              <a:t>Retail owners : faster access to certifications, verifications and renewal process without manual effort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itchFamily="34" charset="0"/>
                <a:cs typeface="Arial" pitchFamily="34" charset="0"/>
              </a:rPr>
              <a:t>Metrology Officers : reduced manual workload through the AI assisted platform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itchFamily="34" charset="0"/>
                <a:cs typeface="Arial" pitchFamily="34" charset="0"/>
              </a:rPr>
              <a:t>GATCs : better allocation with streamlined workflows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itchFamily="34" charset="0"/>
                <a:cs typeface="Arial" pitchFamily="34" charset="0"/>
              </a:rPr>
              <a:t>Rural Users : more accessibility through the app with solving the poor connectivity problem to an extent.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5" name="TextBox 8">
            <a:extLst>
              <a:ext uri="{FF2B5EF4-FFF2-40B4-BE49-F238E27FC236}">
                <a16:creationId xmlns:a16="http://schemas.microsoft.com/office/drawing/2014/main" id="{F6CFA774-52E1-2259-F7D8-8B65ECA17F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69675" y="1617892"/>
            <a:ext cx="2993570" cy="2200602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800" dirty="0">
                <a:latin typeface="Arial" pitchFamily="34" charset="0"/>
                <a:cs typeface="Arial" pitchFamily="34" charset="0"/>
              </a:rPr>
              <a:t>	SOCIAL</a:t>
            </a:r>
            <a:endParaRPr lang="en-US" sz="900" dirty="0">
              <a:latin typeface="Arial" pitchFamily="34" charset="0"/>
              <a:cs typeface="Arial" pitchFamily="34" charset="0"/>
            </a:endParaRPr>
          </a:p>
          <a:p>
            <a:pPr algn="ctr"/>
            <a:endParaRPr lang="en-US" sz="900" dirty="0">
              <a:latin typeface="Arial" pitchFamily="34" charset="0"/>
              <a:cs typeface="Arial" pitchFamily="34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itchFamily="34" charset="0"/>
                <a:cs typeface="Arial" pitchFamily="34" charset="0"/>
              </a:rPr>
              <a:t>Improved consumer trust and transparency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itchFamily="34" charset="0"/>
                <a:cs typeface="Arial" pitchFamily="34" charset="0"/>
              </a:rPr>
              <a:t>Multilingual support</a:t>
            </a:r>
          </a:p>
        </p:txBody>
      </p:sp>
      <p:sp>
        <p:nvSpPr>
          <p:cNvPr id="11" name="TextBox 8">
            <a:extLst>
              <a:ext uri="{FF2B5EF4-FFF2-40B4-BE49-F238E27FC236}">
                <a16:creationId xmlns:a16="http://schemas.microsoft.com/office/drawing/2014/main" id="{1922A172-980D-9E27-8561-B014D51E0AA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66749" y="1601444"/>
            <a:ext cx="2993570" cy="2200602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800" dirty="0">
                <a:latin typeface="Arial" pitchFamily="34" charset="0"/>
                <a:cs typeface="Arial" pitchFamily="34" charset="0"/>
              </a:rPr>
              <a:t>	ECONOMIC</a:t>
            </a:r>
            <a:endParaRPr lang="en-US" sz="900" dirty="0">
              <a:latin typeface="Arial" pitchFamily="34" charset="0"/>
              <a:cs typeface="Arial" pitchFamily="34" charset="0"/>
            </a:endParaRPr>
          </a:p>
          <a:p>
            <a:pPr algn="ctr"/>
            <a:endParaRPr lang="en-US" sz="900" dirty="0">
              <a:latin typeface="Arial" pitchFamily="34" charset="0"/>
              <a:cs typeface="Arial" pitchFamily="34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itchFamily="34" charset="0"/>
                <a:cs typeface="Arial" pitchFamily="34" charset="0"/>
              </a:rPr>
              <a:t>Faster schedule, low runtime.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itchFamily="34" charset="0"/>
                <a:cs typeface="Arial" pitchFamily="34" charset="0"/>
              </a:rPr>
              <a:t>Better fraud detection reducing losses</a:t>
            </a:r>
          </a:p>
        </p:txBody>
      </p:sp>
      <p:sp>
        <p:nvSpPr>
          <p:cNvPr id="14" name="TextBox 8">
            <a:extLst>
              <a:ext uri="{FF2B5EF4-FFF2-40B4-BE49-F238E27FC236}">
                <a16:creationId xmlns:a16="http://schemas.microsoft.com/office/drawing/2014/main" id="{6AEA1DEE-DD73-AC94-E595-5D274687FAA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969675" y="3955016"/>
            <a:ext cx="2993571" cy="2200602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800" dirty="0">
                <a:latin typeface="Arial" pitchFamily="34" charset="0"/>
                <a:cs typeface="Arial" pitchFamily="34" charset="0"/>
              </a:rPr>
              <a:t>	</a:t>
            </a:r>
            <a:r>
              <a:rPr lang="en-US" sz="2000" dirty="0">
                <a:latin typeface="Arial" pitchFamily="34" charset="0"/>
                <a:cs typeface="Arial" pitchFamily="34" charset="0"/>
              </a:rPr>
              <a:t>ENVIRONMENTAL</a:t>
            </a:r>
          </a:p>
          <a:p>
            <a:pPr algn="ctr"/>
            <a:endParaRPr lang="en-US" sz="900" dirty="0">
              <a:latin typeface="Arial" pitchFamily="34" charset="0"/>
              <a:cs typeface="Arial" pitchFamily="34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itchFamily="34" charset="0"/>
                <a:cs typeface="Arial" pitchFamily="34" charset="0"/>
              </a:rPr>
              <a:t>Reduce paper usage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Arial" pitchFamily="34" charset="0"/>
                <a:cs typeface="Arial" pitchFamily="34" charset="0"/>
              </a:rPr>
              <a:t>Minimize unnecessary physical visits</a:t>
            </a:r>
          </a:p>
        </p:txBody>
      </p:sp>
      <p:sp>
        <p:nvSpPr>
          <p:cNvPr id="16" name="TextBox 8">
            <a:extLst>
              <a:ext uri="{FF2B5EF4-FFF2-40B4-BE49-F238E27FC236}">
                <a16:creationId xmlns:a16="http://schemas.microsoft.com/office/drawing/2014/main" id="{A749191E-93C3-82D1-7CDB-160626EBA01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75352" y="3916547"/>
            <a:ext cx="3042468" cy="2323713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800" dirty="0">
                <a:latin typeface="Arial" pitchFamily="34" charset="0"/>
                <a:cs typeface="Arial" pitchFamily="34" charset="0"/>
              </a:rPr>
              <a:t>	</a:t>
            </a:r>
            <a:r>
              <a:rPr lang="en-US" sz="2400" dirty="0">
                <a:latin typeface="Arial" pitchFamily="34" charset="0"/>
                <a:cs typeface="Arial" pitchFamily="34" charset="0"/>
              </a:rPr>
              <a:t>GOVERNANCE</a:t>
            </a:r>
          </a:p>
          <a:p>
            <a:pPr algn="ctr"/>
            <a:endParaRPr lang="en-US" sz="900" dirty="0">
              <a:latin typeface="Arial" pitchFamily="34" charset="0"/>
              <a:cs typeface="Arial" pitchFamily="34" charset="0"/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>
                <a:latin typeface="Arial" pitchFamily="34" charset="0"/>
                <a:cs typeface="Arial" pitchFamily="34" charset="0"/>
              </a:rPr>
              <a:t>Centralized, auditable and transparent system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>
                <a:latin typeface="Arial" pitchFamily="34" charset="0"/>
                <a:cs typeface="Arial" pitchFamily="34" charset="0"/>
              </a:rPr>
              <a:t>Cross state monitoring with national oversight</a:t>
            </a:r>
          </a:p>
        </p:txBody>
      </p:sp>
      <p:sp>
        <p:nvSpPr>
          <p:cNvPr id="18" name="TextBox 8">
            <a:extLst>
              <a:ext uri="{FF2B5EF4-FFF2-40B4-BE49-F238E27FC236}">
                <a16:creationId xmlns:a16="http://schemas.microsoft.com/office/drawing/2014/main" id="{635015B7-8DC0-D689-554F-926E3BE6EC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66460" y="958150"/>
            <a:ext cx="2993570" cy="52322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800" dirty="0">
                <a:latin typeface="Arial" pitchFamily="34" charset="0"/>
                <a:cs typeface="Arial" pitchFamily="34" charset="0"/>
              </a:rPr>
              <a:t>	BENEFITS</a:t>
            </a:r>
            <a:endParaRPr lang="en-US" sz="900" dirty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1DF8E4AF-0304-A722-66B2-2EA68DB51D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1755" y="0"/>
            <a:ext cx="2211404" cy="1000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226984" y="1874728"/>
            <a:ext cx="9385300" cy="3108543"/>
          </a:xfrm>
          <a:prstGeom prst="rect">
            <a:avLst/>
          </a:prstGeom>
          <a:ln>
            <a:headEnd/>
            <a:tailEnd/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342900" lvl="0" indent="-342900" algn="just">
              <a:buFont typeface="Arial" panose="020B0604020202020204" pitchFamily="34" charset="0"/>
              <a:buChar char="•"/>
              <a:defRPr/>
            </a:pPr>
            <a:r>
              <a:rPr lang="en-IN" sz="2800" dirty="0"/>
              <a:t>DigiLocker Issuer API Specification</a:t>
            </a:r>
          </a:p>
          <a:p>
            <a:pPr marL="342900" lvl="0" indent="-342900" algn="just">
              <a:buFont typeface="Arial" panose="020B0604020202020204" pitchFamily="34" charset="0"/>
              <a:buChar char="•"/>
              <a:defRPr/>
            </a:pPr>
            <a:r>
              <a:rPr lang="en-IN" sz="2800" dirty="0"/>
              <a:t>Legal Metrology (General) Rules, 2011 </a:t>
            </a:r>
          </a:p>
          <a:p>
            <a:pPr marL="342900" lvl="0" indent="-342900" algn="just">
              <a:buFont typeface="Arial" panose="020B0604020202020204" pitchFamily="34" charset="0"/>
              <a:buChar char="•"/>
              <a:defRPr/>
            </a:pPr>
            <a:r>
              <a:rPr lang="en-IN" sz="2800" dirty="0"/>
              <a:t>BHASHINI – Reference for multilingual AI</a:t>
            </a:r>
          </a:p>
          <a:p>
            <a:pPr marL="342900" lvl="0" indent="-342900" algn="just">
              <a:buFont typeface="Arial" panose="020B0604020202020204" pitchFamily="34" charset="0"/>
              <a:buChar char="•"/>
              <a:defRPr/>
            </a:pPr>
            <a:r>
              <a:rPr lang="en-IN" sz="2800" dirty="0"/>
              <a:t>Technical research: Study of AI/ML-based document processing, computer vision, anomaly detection, route optimization, RAG systems, offline-first applications and secure digital certification</a:t>
            </a:r>
            <a:endParaRPr kumimoji="0" lang="en-US" sz="28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695672" cy="711315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KHUSHAL</a:t>
            </a:r>
            <a:endParaRPr lang="en-IN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F29A71-627B-2A94-EE32-BC24ADF004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1755" y="0"/>
            <a:ext cx="2211404" cy="1000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7995</TotalTime>
  <Words>509</Words>
  <Application>Microsoft Macintosh PowerPoint</Application>
  <PresentationFormat>Widescreen</PresentationFormat>
  <Paragraphs>99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ＭＳ Ｐゴシック</vt:lpstr>
      <vt:lpstr>Arial</vt:lpstr>
      <vt:lpstr>Calibri</vt:lpstr>
      <vt:lpstr>Garamond</vt:lpstr>
      <vt:lpstr>Times New Roman</vt:lpstr>
      <vt:lpstr>TradeGothic</vt:lpstr>
      <vt:lpstr>Office Theme</vt:lpstr>
      <vt:lpstr>SMART INDIA HACKATHON 2026</vt:lpstr>
      <vt:lpstr> MAANAK : Online system for measuring instruments</vt:lpstr>
      <vt:lpstr>TECHNICAL APPROACH</vt:lpstr>
      <vt:lpstr>FEASIBILITY AND VIABILITY</vt:lpstr>
      <vt:lpstr>IMPACT AND BENEFITS</vt:lpstr>
      <vt:lpstr>RESEARCH  AND REFERENCES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Khushal Bhasin</cp:lastModifiedBy>
  <cp:revision>153</cp:revision>
  <dcterms:created xsi:type="dcterms:W3CDTF">2013-12-12T18:46:50Z</dcterms:created>
  <dcterms:modified xsi:type="dcterms:W3CDTF">2026-09-10T18:05:57Z</dcterms:modified>
  <cp:category/>
</cp:coreProperties>
</file>